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the CFO asked for a full operating plan on an agreed topline. Headline: 204.1 bn IRT revenue (148.9 bn calls, 54.6 bn tickets, 0.6 bn net one-offs), gross margin 40.1%, EBITDA 26.6 bn (13.0%), net profit 17.8 bn (8.7%). Average 135 heads, of which 110 agents; peak 177 in November. Four messages: (1) the plan is built bottom-up from volume x AHT, not last year's headcount; (2) the rate card is fixed for 2026 but wages step up 25% on 1 April, so April is almost break-even (0.6% EBITDA) and Q2 is the trough at 4.5%; operating leverage from the H2 volume ramp restores 15.6% in Q4; (3) tickets are the more profitable line because a ticket second costs less to deliver; (4) a ranked cost program adds 14.4 bn IRT in 12 months (net of investment and a 15% overlap haircut), lifting the margin to about 20%. The biggest risk is not cost but volume: Helix carries staffing risk, so a 10% volume miss with staffing locked to plan takes EBITDA from 26.6 bn to 7.1 bn. Rate card is my assumption (blank in Exhibit C): 32,000 IRT per call and 17,000 per ticket = the same ~425 IRT per handle-second.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chain left to right, as Exhibit D asks: volume, then workload hours, then net productive hours per FTE, then headcount. Calls handled = offered x (1 - abandonment): 4.65 m for the year. Workload = calls x 75 s + tickets x 40 s = 132.6 k productive hours. Net productive hours per FTE: 176 paid x (1 - 30% shrinkage) = 123.2 logged-in hours; x 78% occupancy for voice = 96.1 h; tickets are asynchronous so no Erlang queueing slack is needed and I assume 90% occupancy = 110.9 h. 3% of hours are covered by overtime (given), so rostered FTE cover 97%. Agent FTE: 86 in January to 148 in November. Headcount flow: 4% monthly attrition (assumed, ~40% a year), hires only fill the gap, and a no-layoff policy means February's hires sit idle in March and April (16 and 6 FTE, 1.6 bn IRT of idle cost) - that is cost initiative #7. Support roles are rounded up and ratcheted (never reduced within the year): 22 to 29 heads. Seats: agents share at 1.5 per seat on a 16h x 7d operation; the lease is sized to the November peak + 10% = 141 seats, so H1 utilisation is only ~60% - initiative #4. Erlang check: for November I built an hourly profile and solved Erlang C for 80/20 in each hour. It needs about 82% occupancy-equivalent staffing including a 5% schedule allowance, so 78% is prudent with ~5% headroom - the prize for part-time peak shifts (#3).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of the P&amp;L (sheet PnL_ExE, with an owner per line for monthly variance reviews): revenue (calls, tickets, other one-offs net of service credits) less cost of service (agent payroll split into productive and idle, overtime, team leaders, QA, telephony and messaging, platform licences) = gross profit 81.9 bn, 40.1%. Operating expenses (ops management, WFM, training, IT and HR staff, recruitment and new-hire training, facilities, IT infrastructure, site leadership, account management, 3% corporate overhead, other G&amp;A) = 55.3 bn. EBITDA 26.6 bn, 13.0%. D&amp;A 3.8 bn (seat capex over 36 months), no debt, tax 22% accrued monthly, net profit 17.8 bn, 8.7%. Shape: Q1 18.7% margin, then the 25% wage step on 1 April against a fixed rate card - April is 0.6% EBITDA and slightly loss-making after D&amp;A; Q2 4.5%. The H2 volume ramp (contacts +76% Jan to Nov) spreads fixed cost - facilities, site leadership, IT - and Q4 recovers to 15.6%, December 17.2%. March: revenue drops 20% but cost does not, because February hires are kept (no layoffs) - 1.0 bn of idle payroll in March alone. One-offs: a 1.0 bn onboarding fee in September for the ticket ramp, and a 1.5% service-credit provision on call revenue in February and November when abandonment is 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(sheet UnitEcon): agent payroll and idle cost are allocated by each channel's share of agent FTE, overtime by workload hours, telephony to voice, messaging to tickets; supervision, QA, support, recruitment and licences by FTE share (CM2); fixed overhead by FTE share (EBITDA). It reconciles to the P&amp;L EBITDA to zero every month. Answer: tickets are more profitable - 22.1% EBITDA margin vs 9.4% for calls, and even more EBITDA per contact in absolute terms (3,749 vs 2,996 IRT) despite a price that is about half. Why: both are priced at about 425 IRT per handle-second (32,000 / 75 s; 17,000 / 40 s), so the difference is entirely cost per second: 387 vs 331 IRT. Three drivers: (1) occupancy - voice must keep Erlang slack to answer 80% in 20 s, so a voice agent is productive 78% of logged-in time vs 90% for a ticket agent working a backlog: ~15% more paid time per second; (2) telephony costs ~590 IRT per call including fixed trunks vs ~110 IRT messaging per ticket; (3) voice carries the SLA and service-credit risk and peak-hour staffing. Caveat: calls still bring 73% of revenue and 1.6x the CM1 per contact, so do not shed voice. Commercial actions for 2027: a per-second premium for voice and, where clients agree, channel shift to async.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Exhibit F: eight initiatives, each quantified from the model's FY26 cost base, ranked by 12-month EBITDA impact net of one-off investment and running costs, with benefits starting after the lead time. Six are deliverable within 90 days (shrinkage, part-time peak shifts, phased lease, TL span, telephony renegotiation, flex cover for peaks). Top three are all labour productivity, because people are 70% of revenue: (1) AHT 75 to 68 s via agent-assist, CRM screen-pop and ID&amp;V in the IVR - revenue is per call, so every second saved is pure margin, but FCR must hold; (2) shrinkage 30% to 27% through real-time adherence and absence management; (3) part-time peak shifts, backed by the Erlang check that shows 80-86% occupancy is achievable at peak. Standalone sum 16.95 bn; I take a 15% haircut because initiatives 1-3 act on the same FTE pool: 14.4 bn, lifting FY EBITDA margin from 13.0% to about 20%. Evaluated and not in the top eight on a 12-month lens: attrition reduction (a retention bonus big enough to move it costs about what it saves in year 1) and ticket deflection (it cuts billable volume unless the contract has a gainshare). Risks (Sensitivity sheet): the biggest is volume, not cost - Helix carries staffing risk, so 10% fewer contacts with staffing locked takes EBITDA from 26.6 bn to 7.1 bn. Wage inflation: in a high-inflation labour market +25% is optimistic; at +52% Helix's EBITDA falls to about 1.0 bn, i.e. break-even. AHT +10% costs 39% of EBITDA. Asks for the 2027 contract: wage-indexation clause, a +/-10% volume collar with take-or-pay outside it, and a per-second premium for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9753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5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27101"/>
            <a:ext cx="10566400" cy="431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9753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5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27101"/>
            <a:ext cx="10566400" cy="431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9A1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HELIX SUPPORT PARTNERS · FY26 OPERATING PLAN · JAN–DEC 2026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204 bn IRT revenue at 13.0% EBITDA: profitable, but thin after April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26481"/>
            <a:ext cx="2527300" cy="1300361"/>
          </a:xfrm>
          <a:prstGeom prst="roundRect">
            <a:avLst>
              <a:gd name="adj" fmla="val 7813"/>
            </a:avLst>
          </a:prstGeom>
          <a:solidFill>
            <a:srgbClr val="1F3157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529681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781102"/>
            <a:ext cx="21845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204.1 bn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16000" y="3210322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IRT · 73% voice, 27% tickets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2500" y="2326481"/>
            <a:ext cx="2527300" cy="1300361"/>
          </a:xfrm>
          <a:prstGeom prst="roundRect">
            <a:avLst>
              <a:gd name="adj" fmla="val 7813"/>
            </a:avLst>
          </a:prstGeom>
          <a:solidFill>
            <a:srgbClr val="1F3157"/>
          </a:solidFill>
          <a:ln/>
        </p:spPr>
      </p:sp>
      <p:sp>
        <p:nvSpPr>
          <p:cNvPr id="9" name="Text 7"/>
          <p:cNvSpPr/>
          <p:nvPr/>
        </p:nvSpPr>
        <p:spPr>
          <a:xfrm>
            <a:off x="3695700" y="2529681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EBITDA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95700" y="2781102"/>
            <a:ext cx="21845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9A1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26.6 bn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95700" y="3210322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13.0% margin · GM 40.1%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326481"/>
            <a:ext cx="2527300" cy="1300361"/>
          </a:xfrm>
          <a:prstGeom prst="roundRect">
            <a:avLst>
              <a:gd name="adj" fmla="val 7813"/>
            </a:avLst>
          </a:prstGeom>
          <a:solidFill>
            <a:srgbClr val="1F3157"/>
          </a:solidFill>
          <a:ln/>
        </p:spPr>
      </p:sp>
      <p:sp>
        <p:nvSpPr>
          <p:cNvPr id="13" name="Text 11"/>
          <p:cNvSpPr/>
          <p:nvPr/>
        </p:nvSpPr>
        <p:spPr>
          <a:xfrm>
            <a:off x="6375400" y="2529681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 profit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5400" y="2781102"/>
            <a:ext cx="21845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17.8 bn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75400" y="3210322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8.7% margin after 22% tax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1900" y="2326481"/>
            <a:ext cx="2527300" cy="1300361"/>
          </a:xfrm>
          <a:prstGeom prst="roundRect">
            <a:avLst>
              <a:gd name="adj" fmla="val 7813"/>
            </a:avLst>
          </a:prstGeom>
          <a:solidFill>
            <a:srgbClr val="1F3157"/>
          </a:solidFill>
          <a:ln/>
        </p:spPr>
      </p:sp>
      <p:sp>
        <p:nvSpPr>
          <p:cNvPr id="17" name="Text 15"/>
          <p:cNvSpPr/>
          <p:nvPr/>
        </p:nvSpPr>
        <p:spPr>
          <a:xfrm>
            <a:off x="9055100" y="2529681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Headcount (avg)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5100" y="2781102"/>
            <a:ext cx="21845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5100" y="3210322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110 agents · peak 177 in Nov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385544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A1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r>
              <a:rPr lang="en-US" sz="14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Contacts +76% Jan→Nov take agent FTE from 86 to 148; workload sizes the organisation.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4193183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A1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lang="en-US" sz="14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April's +25% wage step on a fixed rate card: EBITDA margin 18.7% Q1 → 4.5% Q2 → 15.6% Q4.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4530923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A1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r>
              <a:rPr lang="en-US" sz="14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Tickets earn a 22% EBITDA margin vs 9% for calls, at the same price per handle-second.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486866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A1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r>
              <a:rPr lang="en-US" sz="14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Eight initiatives add 14.4 bn IRT EBITDA in 12 months; key risk is a 10% volume miss (−73%).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/ 5 · Source: Helix_FY26_PnL_Model.xlsx · IRT = Toman; bn = 1,000 mln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D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CAPACITY &amp; FTE BUILD (EXHIBIT D)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75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Workload sizes the organisation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603276"/>
            <a:ext cx="5454650" cy="671711"/>
          </a:xfrm>
          <a:custGeom>
            <a:avLst/>
            <a:gdLst/>
            <a:ahLst/>
            <a:cxnLst/>
            <a:rect l="l" t="t" r="r" b="b"/>
            <a:pathLst>
              <a:path w="5454650" h="671711">
                <a:moveTo>
                  <a:pt x="73025" y="0"/>
                </a:moveTo>
                <a:lnTo>
                  <a:pt x="5381625" y="0"/>
                </a:lnTo>
                <a:arcTo hR="73025" wR="73025" stAng="16200000" swAng="5400000"/>
                <a:lnTo>
                  <a:pt x="5454650" y="671711"/>
                </a:lnTo>
                <a:lnTo>
                  <a:pt x="0" y="671711"/>
                </a:lnTo>
                <a:lnTo>
                  <a:pt x="0" y="73025"/>
                </a:lnTo>
                <a:arcTo hR="73025" w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1796852"/>
            <a:ext cx="1447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7.86 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20950" y="1733451"/>
            <a:ext cx="370192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contacts: 4.65 m calls handled (net of 2–4% abandonment) + 3.21 m tickets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278162"/>
            <a:ext cx="5461000" cy="671711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8" name="Shape 6"/>
          <p:cNvSpPr/>
          <p:nvPr/>
        </p:nvSpPr>
        <p:spPr>
          <a:xfrm>
            <a:off x="6270625" y="2278162"/>
            <a:ext cx="0" cy="671711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" y="2946698"/>
            <a:ext cx="546100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975" y="2278162"/>
            <a:ext cx="0" cy="671711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1550" y="2468563"/>
            <a:ext cx="1447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132.6 k 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20950" y="2405162"/>
            <a:ext cx="370192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workload: calls × 75 s = 96.9 k h, tickets × 40 s = 35.7 k 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949873"/>
            <a:ext cx="5461000" cy="671711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70625" y="2949873"/>
            <a:ext cx="0" cy="671711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800" y="3618409"/>
            <a:ext cx="546100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975" y="2949873"/>
            <a:ext cx="0" cy="671711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550" y="3140273"/>
            <a:ext cx="1447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96 / 111 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20950" y="3076873"/>
            <a:ext cx="370192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productive h per FTE: 176 × (1 − 30% shrinkage) × 78% voice / 90% tickets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621584"/>
            <a:ext cx="5461000" cy="671711"/>
          </a:xfrm>
          <a:prstGeom prst="rect">
            <a:avLst/>
          </a:prstGeom>
          <a:solidFill>
            <a:srgbClr val="FDFC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70625" y="3621584"/>
            <a:ext cx="0" cy="671711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800" y="4290120"/>
            <a:ext cx="546100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975" y="3621584"/>
            <a:ext cx="0" cy="671711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1550" y="3811984"/>
            <a:ext cx="1447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108 FTE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20950" y="3748584"/>
            <a:ext cx="370192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needed on average after 3% overtime cover; 86 in Jan → 148 in Nov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800" y="4293295"/>
            <a:ext cx="5461000" cy="671711"/>
          </a:xfrm>
          <a:custGeom>
            <a:avLst/>
            <a:gdLst/>
            <a:ahLst/>
            <a:cxnLst/>
            <a:rect l="l" t="t" r="r" b="b"/>
            <a:pathLst>
              <a:path w="5461000" h="671711">
                <a:moveTo>
                  <a:pt x="0" y="0"/>
                </a:moveTo>
                <a:lnTo>
                  <a:pt x="5461000" y="0"/>
                </a:lnTo>
                <a:lnTo>
                  <a:pt x="5461000" y="595511"/>
                </a:lnTo>
                <a:arcTo hR="76200" wR="76200" stAng="0" swAng="5400000"/>
                <a:lnTo>
                  <a:pt x="76200" y="671711"/>
                </a:lnTo>
                <a:arcTo hR="76200" w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15233F"/>
          </a:solidFill>
          <a:ln/>
        </p:spPr>
      </p:sp>
      <p:sp>
        <p:nvSpPr>
          <p:cNvPr id="26" name="Shape 24"/>
          <p:cNvSpPr/>
          <p:nvPr/>
        </p:nvSpPr>
        <p:spPr>
          <a:xfrm>
            <a:off x="812800" y="4293295"/>
            <a:ext cx="5461000" cy="671711"/>
          </a:xfrm>
          <a:custGeom>
            <a:avLst/>
            <a:gdLst/>
            <a:ahLst/>
            <a:cxnLst/>
            <a:rect l="l" t="t" r="r" b="b"/>
            <a:pathLst>
              <a:path w="5461000" h="671711">
                <a:moveTo>
                  <a:pt x="5454650" y="0"/>
                </a:moveTo>
                <a:lnTo>
                  <a:pt x="5461000" y="0"/>
                </a:lnTo>
                <a:lnTo>
                  <a:pt x="5461000" y="595511"/>
                </a:lnTo>
                <a:arcTo hR="76200" wR="76200" stAng="0" swAng="5400000"/>
                <a:lnTo>
                  <a:pt x="76200" y="671711"/>
                </a:lnTo>
                <a:arcTo hR="76200" wR="76200" stAng="5400000" swAng="5400000"/>
                <a:lnTo>
                  <a:pt x="0" y="0"/>
                </a:lnTo>
                <a:lnTo>
                  <a:pt x="6350" y="0"/>
                </a:lnTo>
                <a:lnTo>
                  <a:pt x="6350" y="595511"/>
                </a:lnTo>
                <a:arcTo hR="69850" wR="69850" stAng="10800000" swAng="-5400000"/>
                <a:lnTo>
                  <a:pt x="5384800" y="665361"/>
                </a:lnTo>
                <a:arcTo hR="69850" wR="69850" stAng="5400000" swAng="-5400000"/>
                <a:lnTo>
                  <a:pt x="5454650" y="0"/>
                </a:lnTo>
                <a:close/>
              </a:path>
            </a:pathLst>
          </a:custGeom>
          <a:solidFill>
            <a:srgbClr val="15233F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" y="4483695"/>
            <a:ext cx="1447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9A1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135 HC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0950" y="4420295"/>
            <a:ext cx="370192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B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avg on payroll: 110 agents + 26 support &amp; management; 141 seats leased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78600" y="1600101"/>
            <a:ext cx="494461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headcount by month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78600" y="1994991"/>
            <a:ext cx="139700" cy="139700"/>
          </a:xfrm>
          <a:prstGeom prst="roundRect">
            <a:avLst>
              <a:gd name="adj" fmla="val 18182"/>
            </a:avLst>
          </a:prstGeom>
          <a:solidFill>
            <a:srgbClr val="2F4A7A"/>
          </a:solidFill>
          <a:ln/>
        </p:spPr>
      </p:sp>
      <p:sp>
        <p:nvSpPr>
          <p:cNvPr id="31" name="Text 29"/>
          <p:cNvSpPr/>
          <p:nvPr/>
        </p:nvSpPr>
        <p:spPr>
          <a:xfrm>
            <a:off x="6896100" y="1958181"/>
            <a:ext cx="7430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93124" y="1994991"/>
            <a:ext cx="139700" cy="139700"/>
          </a:xfrm>
          <a:prstGeom prst="roundRect">
            <a:avLst>
              <a:gd name="adj" fmla="val 18182"/>
            </a:avLst>
          </a:prstGeom>
          <a:solidFill>
            <a:srgbClr val="D9772B"/>
          </a:solidFill>
          <a:ln/>
        </p:spPr>
      </p:sp>
      <p:sp>
        <p:nvSpPr>
          <p:cNvPr id="33" name="Text 31"/>
          <p:cNvSpPr/>
          <p:nvPr/>
        </p:nvSpPr>
        <p:spPr>
          <a:xfrm>
            <a:off x="8010624" y="1958181"/>
            <a:ext cx="21339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Idle (Feb hires, no layoffs)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78600" y="4438452"/>
            <a:ext cx="4800600" cy="0"/>
          </a:xfrm>
          <a:prstGeom prst="line">
            <a:avLst/>
          </a:prstGeom>
          <a:noFill/>
          <a:ln w="12700">
            <a:solidFill>
              <a:srgbClr val="B9B3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6820" y="3094831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04000" y="3346252"/>
            <a:ext cx="279400" cy="1085850"/>
          </a:xfrm>
          <a:custGeom>
            <a:avLst/>
            <a:gdLst/>
            <a:ahLst/>
            <a:cxnLst/>
            <a:rect l="l" t="t" r="r" b="b"/>
            <a:pathLst>
              <a:path w="279400" h="108585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1085850"/>
                </a:lnTo>
                <a:lnTo>
                  <a:pt x="0" y="10858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2F4A7A"/>
          </a:solidFill>
          <a:ln/>
        </p:spPr>
      </p:sp>
      <p:sp>
        <p:nvSpPr>
          <p:cNvPr id="37" name="Text 35"/>
          <p:cNvSpPr/>
          <p:nvPr/>
        </p:nvSpPr>
        <p:spPr>
          <a:xfrm>
            <a:off x="7033220" y="2974181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10400" y="3225602"/>
            <a:ext cx="279400" cy="1206500"/>
          </a:xfrm>
          <a:custGeom>
            <a:avLst/>
            <a:gdLst/>
            <a:ahLst/>
            <a:cxnLst/>
            <a:rect l="l" t="t" r="r" b="b"/>
            <a:pathLst>
              <a:path w="279400" h="120650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1206500"/>
                </a:lnTo>
                <a:lnTo>
                  <a:pt x="0" y="12065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2F4A7A"/>
          </a:solidFill>
          <a:ln/>
        </p:spPr>
      </p:sp>
      <p:sp>
        <p:nvSpPr>
          <p:cNvPr id="39" name="Text 37"/>
          <p:cNvSpPr/>
          <p:nvPr/>
        </p:nvSpPr>
        <p:spPr>
          <a:xfrm>
            <a:off x="7439620" y="3024981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16800" y="3276402"/>
            <a:ext cx="279400" cy="203200"/>
          </a:xfrm>
          <a:custGeom>
            <a:avLst/>
            <a:gdLst/>
            <a:ahLst/>
            <a:cxnLst/>
            <a:rect l="l" t="t" r="r" b="b"/>
            <a:pathLst>
              <a:path w="279400" h="20320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203200"/>
                </a:lnTo>
                <a:lnTo>
                  <a:pt x="0" y="2032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7416800" y="3479602"/>
            <a:ext cx="279400" cy="95250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42" name="Text 40"/>
          <p:cNvSpPr/>
          <p:nvPr/>
        </p:nvSpPr>
        <p:spPr>
          <a:xfrm>
            <a:off x="7846020" y="3063081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823200" y="3314502"/>
            <a:ext cx="279400" cy="82550"/>
          </a:xfrm>
          <a:custGeom>
            <a:avLst/>
            <a:gdLst/>
            <a:ahLst/>
            <a:cxnLst/>
            <a:rect l="l" t="t" r="r" b="b"/>
            <a:pathLst>
              <a:path w="279400" h="8255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82550"/>
                </a:lnTo>
                <a:lnTo>
                  <a:pt x="0" y="825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7823200" y="3397052"/>
            <a:ext cx="279400" cy="103505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45" name="Text 43"/>
          <p:cNvSpPr/>
          <p:nvPr/>
        </p:nvSpPr>
        <p:spPr>
          <a:xfrm>
            <a:off x="8252420" y="3082131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229600" y="3333552"/>
            <a:ext cx="279400" cy="1098550"/>
          </a:xfrm>
          <a:custGeom>
            <a:avLst/>
            <a:gdLst/>
            <a:ahLst/>
            <a:cxnLst/>
            <a:rect l="l" t="t" r="r" b="b"/>
            <a:pathLst>
              <a:path w="279400" h="109855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1098550"/>
                </a:lnTo>
                <a:lnTo>
                  <a:pt x="0" y="10985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2F4A7A"/>
          </a:solidFill>
          <a:ln/>
        </p:spPr>
      </p:sp>
      <p:sp>
        <p:nvSpPr>
          <p:cNvPr id="47" name="Text 45"/>
          <p:cNvSpPr/>
          <p:nvPr/>
        </p:nvSpPr>
        <p:spPr>
          <a:xfrm>
            <a:off x="8658820" y="2967831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96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636000" y="3219252"/>
            <a:ext cx="279400" cy="1212850"/>
          </a:xfrm>
          <a:custGeom>
            <a:avLst/>
            <a:gdLst/>
            <a:ahLst/>
            <a:cxnLst/>
            <a:rect l="l" t="t" r="r" b="b"/>
            <a:pathLst>
              <a:path w="279400" h="121285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1212850"/>
                </a:lnTo>
                <a:lnTo>
                  <a:pt x="0" y="12128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2F4A7A"/>
          </a:solidFill>
          <a:ln/>
        </p:spPr>
      </p:sp>
      <p:sp>
        <p:nvSpPr>
          <p:cNvPr id="49" name="Text 47"/>
          <p:cNvSpPr/>
          <p:nvPr/>
        </p:nvSpPr>
        <p:spPr>
          <a:xfrm>
            <a:off x="9017446" y="2828131"/>
            <a:ext cx="329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107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042400" y="3079552"/>
            <a:ext cx="279400" cy="1352550"/>
          </a:xfrm>
          <a:custGeom>
            <a:avLst/>
            <a:gdLst/>
            <a:ahLst/>
            <a:cxnLst/>
            <a:rect l="l" t="t" r="r" b="b"/>
            <a:pathLst>
              <a:path w="279400" h="135255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1352550"/>
                </a:lnTo>
                <a:lnTo>
                  <a:pt x="0" y="13525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2F4A7A"/>
          </a:solidFill>
          <a:ln/>
        </p:spPr>
      </p:sp>
      <p:sp>
        <p:nvSpPr>
          <p:cNvPr id="51" name="Text 49"/>
          <p:cNvSpPr/>
          <p:nvPr/>
        </p:nvSpPr>
        <p:spPr>
          <a:xfrm>
            <a:off x="9423846" y="2758281"/>
            <a:ext cx="329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448800" y="3009702"/>
            <a:ext cx="279400" cy="1422400"/>
          </a:xfrm>
          <a:custGeom>
            <a:avLst/>
            <a:gdLst/>
            <a:ahLst/>
            <a:cxnLst/>
            <a:rect l="l" t="t" r="r" b="b"/>
            <a:pathLst>
              <a:path w="279400" h="142240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1422400"/>
                </a:lnTo>
                <a:lnTo>
                  <a:pt x="0" y="14224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2F4A7A"/>
          </a:solidFill>
          <a:ln/>
        </p:spPr>
      </p:sp>
      <p:sp>
        <p:nvSpPr>
          <p:cNvPr id="53" name="Text 51"/>
          <p:cNvSpPr/>
          <p:nvPr/>
        </p:nvSpPr>
        <p:spPr>
          <a:xfrm>
            <a:off x="9830246" y="2529681"/>
            <a:ext cx="329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855200" y="2781102"/>
            <a:ext cx="279400" cy="1651000"/>
          </a:xfrm>
          <a:custGeom>
            <a:avLst/>
            <a:gdLst/>
            <a:ahLst/>
            <a:cxnLst/>
            <a:rect l="l" t="t" r="r" b="b"/>
            <a:pathLst>
              <a:path w="279400" h="165100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1651000"/>
                </a:lnTo>
                <a:lnTo>
                  <a:pt x="0" y="16510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2F4A7A"/>
          </a:solidFill>
          <a:ln/>
        </p:spPr>
      </p:sp>
      <p:sp>
        <p:nvSpPr>
          <p:cNvPr id="55" name="Text 53"/>
          <p:cNvSpPr/>
          <p:nvPr/>
        </p:nvSpPr>
        <p:spPr>
          <a:xfrm>
            <a:off x="10236646" y="2466181"/>
            <a:ext cx="329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0261600" y="2717602"/>
            <a:ext cx="279400" cy="1714500"/>
          </a:xfrm>
          <a:custGeom>
            <a:avLst/>
            <a:gdLst/>
            <a:ahLst/>
            <a:cxnLst/>
            <a:rect l="l" t="t" r="r" b="b"/>
            <a:pathLst>
              <a:path w="279400" h="171450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1714500"/>
                </a:lnTo>
                <a:lnTo>
                  <a:pt x="0" y="17145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2F4A7A"/>
          </a:solidFill>
          <a:ln/>
        </p:spPr>
      </p:sp>
      <p:sp>
        <p:nvSpPr>
          <p:cNvPr id="57" name="Text 55"/>
          <p:cNvSpPr/>
          <p:nvPr/>
        </p:nvSpPr>
        <p:spPr>
          <a:xfrm>
            <a:off x="10643046" y="2301081"/>
            <a:ext cx="329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148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668000" y="2552502"/>
            <a:ext cx="279400" cy="1879600"/>
          </a:xfrm>
          <a:custGeom>
            <a:avLst/>
            <a:gdLst/>
            <a:ahLst/>
            <a:cxnLst/>
            <a:rect l="l" t="t" r="r" b="b"/>
            <a:pathLst>
              <a:path w="279400" h="187960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1879600"/>
                </a:lnTo>
                <a:lnTo>
                  <a:pt x="0" y="18796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15233F"/>
          </a:solidFill>
          <a:ln/>
        </p:spPr>
      </p:sp>
      <p:sp>
        <p:nvSpPr>
          <p:cNvPr id="59" name="Text 57"/>
          <p:cNvSpPr/>
          <p:nvPr/>
        </p:nvSpPr>
        <p:spPr>
          <a:xfrm>
            <a:off x="11049446" y="2377281"/>
            <a:ext cx="329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142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1074400" y="2628702"/>
            <a:ext cx="279400" cy="25400"/>
          </a:xfrm>
          <a:prstGeom prst="rect">
            <a:avLst/>
          </a:prstGeom>
          <a:solidFill>
            <a:srgbClr val="D9772B"/>
          </a:solidFill>
          <a:ln/>
        </p:spPr>
      </p:sp>
      <p:sp>
        <p:nvSpPr>
          <p:cNvPr id="61" name="Shape 59"/>
          <p:cNvSpPr/>
          <p:nvPr/>
        </p:nvSpPr>
        <p:spPr>
          <a:xfrm>
            <a:off x="11074400" y="2654102"/>
            <a:ext cx="279400" cy="1778000"/>
          </a:xfrm>
          <a:custGeom>
            <a:avLst/>
            <a:gdLst/>
            <a:ahLst/>
            <a:cxnLst/>
            <a:rect l="l" t="t" r="r" b="b"/>
            <a:pathLst>
              <a:path w="279400" h="1778000">
                <a:moveTo>
                  <a:pt x="38100" y="0"/>
                </a:moveTo>
                <a:lnTo>
                  <a:pt x="241300" y="0"/>
                </a:lnTo>
                <a:arcTo hR="38100" wR="38100" stAng="16200000" swAng="5400000"/>
                <a:lnTo>
                  <a:pt x="279400" y="1778000"/>
                </a:lnTo>
                <a:lnTo>
                  <a:pt x="0" y="17780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2F4A7A"/>
          </a:solidFill>
          <a:ln/>
        </p:spPr>
      </p:sp>
      <p:sp>
        <p:nvSpPr>
          <p:cNvPr id="62" name="Text 60"/>
          <p:cNvSpPr/>
          <p:nvPr/>
        </p:nvSpPr>
        <p:spPr>
          <a:xfrm>
            <a:off x="65532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9596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660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7724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1788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5852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9916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93980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8044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02108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06172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1023600" y="4559102"/>
            <a:ext cx="381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578600" y="4886722"/>
            <a:ext cx="4800600" cy="614561"/>
          </a:xfrm>
          <a:prstGeom prst="roundRect">
            <a:avLst>
              <a:gd name="adj" fmla="val 10333"/>
            </a:avLst>
          </a:prstGeom>
          <a:solidFill>
            <a:srgbClr val="E7ECF4"/>
          </a:solidFill>
          <a:ln/>
        </p:spPr>
        <p:txBody>
          <a:bodyPr wrap="square" lIns="108401" tIns="83001" rIns="0" bIns="57601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Erlang C (Nov peak, 80/20): 82% occupancy is achievable vs 78% planned, so the plan carries ~5% headroom.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5 · Capacity_ExD, Erlang_Check · TL 1:15 · OM 1:6 TLs · QA 1:40 · WFM/IT/HR 1:75 · trainers 1:60 (assumed)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D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PROFIT &amp; LOSS, JAN–DEC 2026 (EXHIBIT E)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75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13.0% EBITDA, with an April trough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473101"/>
            <a:ext cx="1088339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 rate card, +25% wages from 1 April: EBITDA margin 18.7% in Q1 → 4.5% in Q2 → 15.6% in Q4.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" y="1910556"/>
            <a:ext cx="139700" cy="139700"/>
          </a:xfrm>
          <a:prstGeom prst="roundRect">
            <a:avLst>
              <a:gd name="adj" fmla="val 18182"/>
            </a:avLst>
          </a:prstGeom>
          <a:solidFill>
            <a:srgbClr val="2F4A7A"/>
          </a:solidFill>
          <a:ln/>
        </p:spPr>
      </p:sp>
      <p:sp>
        <p:nvSpPr>
          <p:cNvPr id="6" name="Text 4"/>
          <p:cNvSpPr/>
          <p:nvPr/>
        </p:nvSpPr>
        <p:spPr>
          <a:xfrm>
            <a:off x="1130300" y="1873746"/>
            <a:ext cx="157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cost (pre-D&amp;A)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04108" y="1910556"/>
            <a:ext cx="139700" cy="139700"/>
          </a:xfrm>
          <a:prstGeom prst="roundRect">
            <a:avLst>
              <a:gd name="adj" fmla="val 18182"/>
            </a:avLst>
          </a:prstGeom>
          <a:solidFill>
            <a:srgbClr val="D9772B"/>
          </a:solidFill>
          <a:ln/>
        </p:spPr>
      </p:sp>
      <p:sp>
        <p:nvSpPr>
          <p:cNvPr id="8" name="Text 6"/>
          <p:cNvSpPr/>
          <p:nvPr/>
        </p:nvSpPr>
        <p:spPr>
          <a:xfrm>
            <a:off x="3021608" y="1873746"/>
            <a:ext cx="17904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EBITDA (bar = revenue)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12010" y="1873746"/>
            <a:ext cx="1624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</a:t>
            </a: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EBITDA margin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4912816"/>
            <a:ext cx="6705600" cy="0"/>
          </a:xfrm>
          <a:prstGeom prst="line">
            <a:avLst/>
          </a:prstGeom>
          <a:noFill/>
          <a:ln w="12700">
            <a:solidFill>
              <a:srgbClr val="B9B3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226" y="3245346"/>
            <a:ext cx="520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23.9%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2175" y="3496766"/>
            <a:ext cx="330200" cy="336550"/>
          </a:xfrm>
          <a:custGeom>
            <a:avLst/>
            <a:gdLst/>
            <a:ahLst/>
            <a:cxnLst/>
            <a:rect l="l" t="t" r="r" b="b"/>
            <a:pathLst>
              <a:path w="330200" h="33655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336550"/>
                </a:lnTo>
                <a:lnTo>
                  <a:pt x="0" y="3365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892175" y="3833316"/>
            <a:ext cx="330200" cy="107315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1348115" y="3111996"/>
            <a:ext cx="5485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21.5%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57325" y="3363416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330200"/>
                </a:lnTo>
                <a:lnTo>
                  <a:pt x="0" y="3302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457325" y="3693616"/>
            <a:ext cx="330200" cy="121285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17" name="Text 15"/>
          <p:cNvSpPr/>
          <p:nvPr/>
        </p:nvSpPr>
        <p:spPr>
          <a:xfrm>
            <a:off x="1968153" y="3423146"/>
            <a:ext cx="438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9.3%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22475" y="3674566"/>
            <a:ext cx="330200" cy="114300"/>
          </a:xfrm>
          <a:custGeom>
            <a:avLst/>
            <a:gdLst/>
            <a:ahLst/>
            <a:cxnLst/>
            <a:rect l="l" t="t" r="r" b="b"/>
            <a:pathLst>
              <a:path w="330200" h="1143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114300"/>
                </a:lnTo>
                <a:lnTo>
                  <a:pt x="0" y="1143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022475" y="3788866"/>
            <a:ext cx="330200" cy="111760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20" name="Text 18"/>
          <p:cNvSpPr/>
          <p:nvPr/>
        </p:nvSpPr>
        <p:spPr>
          <a:xfrm>
            <a:off x="2525554" y="3321546"/>
            <a:ext cx="4543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0.6%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87625" y="3572966"/>
            <a:ext cx="330200" cy="12700"/>
          </a:xfrm>
          <a:prstGeom prst="rect">
            <a:avLst/>
          </a:prstGeom>
          <a:solidFill>
            <a:srgbClr val="D97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587625" y="3585666"/>
            <a:ext cx="330200" cy="1320800"/>
          </a:xfrm>
          <a:custGeom>
            <a:avLst/>
            <a:gdLst/>
            <a:ahLst/>
            <a:cxnLst/>
            <a:rect l="l" t="t" r="r" b="b"/>
            <a:pathLst>
              <a:path w="330200" h="13208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1320800"/>
                </a:lnTo>
                <a:lnTo>
                  <a:pt x="0" y="13208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2F4A7A"/>
          </a:solidFill>
          <a:ln/>
        </p:spPr>
      </p:sp>
      <p:sp>
        <p:nvSpPr>
          <p:cNvPr id="23" name="Text 21"/>
          <p:cNvSpPr/>
          <p:nvPr/>
        </p:nvSpPr>
        <p:spPr>
          <a:xfrm>
            <a:off x="3098453" y="3238996"/>
            <a:ext cx="438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6.1%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52775" y="3490416"/>
            <a:ext cx="330200" cy="88900"/>
          </a:xfrm>
          <a:custGeom>
            <a:avLst/>
            <a:gdLst/>
            <a:ahLst/>
            <a:cxnLst/>
            <a:rect l="l" t="t" r="r" b="b"/>
            <a:pathLst>
              <a:path w="330200" h="889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88900"/>
                </a:lnTo>
                <a:lnTo>
                  <a:pt x="0" y="889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152775" y="3579316"/>
            <a:ext cx="330200" cy="132715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26" name="Text 24"/>
          <p:cNvSpPr/>
          <p:nvPr/>
        </p:nvSpPr>
        <p:spPr>
          <a:xfrm>
            <a:off x="3663603" y="3086596"/>
            <a:ext cx="438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6.3%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17925" y="3338016"/>
            <a:ext cx="330200" cy="101600"/>
          </a:xfrm>
          <a:custGeom>
            <a:avLst/>
            <a:gdLst/>
            <a:ahLst/>
            <a:cxnLst/>
            <a:rect l="l" t="t" r="r" b="b"/>
            <a:pathLst>
              <a:path w="330200" h="1016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101600"/>
                </a:lnTo>
                <a:lnTo>
                  <a:pt x="0" y="1016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717925" y="3439616"/>
            <a:ext cx="330200" cy="146685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29" name="Text 27"/>
          <p:cNvSpPr/>
          <p:nvPr/>
        </p:nvSpPr>
        <p:spPr>
          <a:xfrm>
            <a:off x="4228753" y="2902446"/>
            <a:ext cx="438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8.6%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83075" y="3153866"/>
            <a:ext cx="330200" cy="152400"/>
          </a:xfrm>
          <a:custGeom>
            <a:avLst/>
            <a:gdLst/>
            <a:ahLst/>
            <a:cxnLst/>
            <a:rect l="l" t="t" r="r" b="b"/>
            <a:pathLst>
              <a:path w="330200" h="1524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152400"/>
                </a:lnTo>
                <a:lnTo>
                  <a:pt x="0" y="1524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283075" y="3306266"/>
            <a:ext cx="330200" cy="160020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32" name="Text 30"/>
          <p:cNvSpPr/>
          <p:nvPr/>
        </p:nvSpPr>
        <p:spPr>
          <a:xfrm>
            <a:off x="4739015" y="2819896"/>
            <a:ext cx="5485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11.5%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8225" y="3071316"/>
            <a:ext cx="330200" cy="209550"/>
          </a:xfrm>
          <a:custGeom>
            <a:avLst/>
            <a:gdLst/>
            <a:ahLst/>
            <a:cxnLst/>
            <a:rect l="l" t="t" r="r" b="b"/>
            <a:pathLst>
              <a:path w="330200" h="20955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209550"/>
                </a:lnTo>
                <a:lnTo>
                  <a:pt x="0" y="2095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8225" y="3280866"/>
            <a:ext cx="330200" cy="162560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35" name="Text 33"/>
          <p:cNvSpPr/>
          <p:nvPr/>
        </p:nvSpPr>
        <p:spPr>
          <a:xfrm>
            <a:off x="5304165" y="2413496"/>
            <a:ext cx="5485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15.5%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13375" y="2664916"/>
            <a:ext cx="330200" cy="349250"/>
          </a:xfrm>
          <a:custGeom>
            <a:avLst/>
            <a:gdLst/>
            <a:ahLst/>
            <a:cxnLst/>
            <a:rect l="l" t="t" r="r" b="b"/>
            <a:pathLst>
              <a:path w="330200" h="34925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349250"/>
                </a:lnTo>
                <a:lnTo>
                  <a:pt x="0" y="3492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5413375" y="3014166"/>
            <a:ext cx="330200" cy="189230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38" name="Text 36"/>
          <p:cNvSpPr/>
          <p:nvPr/>
        </p:nvSpPr>
        <p:spPr>
          <a:xfrm>
            <a:off x="5869315" y="2432546"/>
            <a:ext cx="5485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14.7%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78525" y="2683966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330200"/>
                </a:lnTo>
                <a:lnTo>
                  <a:pt x="0" y="3302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5978525" y="3014166"/>
            <a:ext cx="330200" cy="189230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41" name="Text 39"/>
          <p:cNvSpPr/>
          <p:nvPr/>
        </p:nvSpPr>
        <p:spPr>
          <a:xfrm>
            <a:off x="6434465" y="2242046"/>
            <a:ext cx="5485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14.8%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43675" y="2493466"/>
            <a:ext cx="330200" cy="355600"/>
          </a:xfrm>
          <a:custGeom>
            <a:avLst/>
            <a:gdLst/>
            <a:ahLst/>
            <a:cxnLst/>
            <a:rect l="l" t="t" r="r" b="b"/>
            <a:pathLst>
              <a:path w="330200" h="35560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355600"/>
                </a:lnTo>
                <a:lnTo>
                  <a:pt x="0" y="35560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43" name="Shape 41"/>
          <p:cNvSpPr/>
          <p:nvPr/>
        </p:nvSpPr>
        <p:spPr>
          <a:xfrm>
            <a:off x="6543675" y="2849066"/>
            <a:ext cx="330200" cy="205740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44" name="Text 42"/>
          <p:cNvSpPr/>
          <p:nvPr/>
        </p:nvSpPr>
        <p:spPr>
          <a:xfrm>
            <a:off x="7038876" y="2343646"/>
            <a:ext cx="520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17.2%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08825" y="2595066"/>
            <a:ext cx="330200" cy="400050"/>
          </a:xfrm>
          <a:custGeom>
            <a:avLst/>
            <a:gdLst/>
            <a:ahLst/>
            <a:cxnLst/>
            <a:rect l="l" t="t" r="r" b="b"/>
            <a:pathLst>
              <a:path w="330200" h="400050">
                <a:moveTo>
                  <a:pt x="38100" y="0"/>
                </a:moveTo>
                <a:lnTo>
                  <a:pt x="292100" y="0"/>
                </a:lnTo>
                <a:arcTo hR="38100" wR="38100" stAng="16200000" swAng="5400000"/>
                <a:lnTo>
                  <a:pt x="330200" y="400050"/>
                </a:lnTo>
                <a:lnTo>
                  <a:pt x="0" y="400050"/>
                </a:lnTo>
                <a:lnTo>
                  <a:pt x="0" y="38100"/>
                </a:lnTo>
                <a:arcTo hR="38100" wR="38100" stAng="10800000" swAng="5400000"/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7108825" y="2995116"/>
            <a:ext cx="330200" cy="1911350"/>
          </a:xfrm>
          <a:prstGeom prst="rect">
            <a:avLst/>
          </a:prstGeom>
          <a:solidFill>
            <a:srgbClr val="2F4A7A"/>
          </a:solidFill>
          <a:ln/>
        </p:spPr>
      </p:sp>
      <p:sp>
        <p:nvSpPr>
          <p:cNvPr id="47" name="Text 45"/>
          <p:cNvSpPr/>
          <p:nvPr/>
        </p:nvSpPr>
        <p:spPr>
          <a:xfrm>
            <a:off x="78740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35255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Feb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91770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48285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A1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4800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1315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17830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74345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0860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87375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3890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004050" y="5020766"/>
            <a:ext cx="539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12800" y="5335687"/>
            <a:ext cx="690676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Monthly revenue 13.5 bn (Jan) → 23.1 bn IRT (Nov); March dip carries idle agents hired for February.</a:t>
            </a:r>
            <a:endParaRPr lang="en-US" sz="12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35900" y="1886446"/>
          <a:ext cx="3543300" cy="3233440"/>
        </p:xfrm>
        <a:graphic>
          <a:graphicData uri="http://schemas.openxmlformats.org/drawingml/2006/table">
            <a:tbl>
              <a:tblPr/>
              <a:tblGrid>
                <a:gridCol w="1913382"/>
                <a:gridCol w="814959"/>
                <a:gridCol w="814959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FY26, bn IRT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% rev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204.1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 of service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(122.2)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59.9%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Gross profit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81.9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40.1%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Operating expenses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(55.3)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27.1%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EBITDA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26.6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13.0%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D&amp;A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(3.8)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1.8%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Income tax (22%)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(5.0)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2.5%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Net profit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17.8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8.7%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4"/>
                    </a:solidFill>
                  </a:tcPr>
                </a:tc>
              </a:tr>
            </a:tbl>
          </a:graphicData>
        </a:graphic>
      </p:graphicFrame>
      <p:sp>
        <p:nvSpPr>
          <p:cNvPr id="61" name="Text 58"/>
          <p:cNvSpPr/>
          <p:nvPr/>
        </p:nvSpPr>
        <p:spPr>
          <a:xfrm>
            <a:off x="7823200" y="5196086"/>
            <a:ext cx="366268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cost is 70% of revenue and 81% of the cost base.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5 · PnL_ExE sheet · rate card assumed: 32,000 IRT / call, 17,000 IRT / ticket (fixed for 2026)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D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UNIT ECONOMICS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75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Tickets are the more profitable 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473101"/>
            <a:ext cx="1088339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price per handle-second (~425 IRT), but a ticket second costs 14% less to deliver.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86446"/>
          <a:ext cx="5702300" cy="2660650"/>
        </p:xfrm>
        <a:graphic>
          <a:graphicData uri="http://schemas.openxmlformats.org/drawingml/2006/table">
            <a:tbl>
              <a:tblPr/>
              <a:tblGrid>
                <a:gridCol w="3193288"/>
                <a:gridCol w="1254506"/>
                <a:gridCol w="1254506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 contact, FY26 (IRT)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Ticket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Price (rate card)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32,000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17,000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Fully-loaded cost (pre-D&amp;A)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29,004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13,251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CM1 after agent labour &amp; channel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15,293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9,399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EBITDA per contact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2,996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3,749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3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EBITDA margin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9.4%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22.1%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3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 per handle-second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387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331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Contacts per agent FTE per month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4,613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9,979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699496"/>
            <a:ext cx="5715000" cy="871041"/>
          </a:xfrm>
          <a:prstGeom prst="roundRect">
            <a:avLst>
              <a:gd name="adj" fmla="val 8748"/>
            </a:avLst>
          </a:prstGeom>
          <a:solidFill>
            <a:srgbClr val="15233F"/>
          </a:solidFill>
          <a:ln/>
        </p:spPr>
        <p:txBody>
          <a:bodyPr wrap="square" lIns="130082" tIns="104682" rIns="0" bIns="79282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what:</a:t>
            </a:r>
            <a:r>
              <a:rPr lang="en-US" sz="12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keep voice (73% of revenue, 1.6× the CM1 per contact) but price a per-second voice premium into the 2027 rate card and steer async where clients agree.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35775" y="1876921"/>
            <a:ext cx="4540250" cy="1067891"/>
          </a:xfrm>
          <a:prstGeom prst="roundRect">
            <a:avLst>
              <a:gd name="adj" fmla="val 6838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16750" y="2057896"/>
            <a:ext cx="430364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Occupancy 78% vs 90%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16750" y="2352477"/>
            <a:ext cx="430364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Voice holds Erlang slack for 80/20; tickets are worked from a backlog.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35775" y="3078163"/>
            <a:ext cx="4540250" cy="1067891"/>
          </a:xfrm>
          <a:prstGeom prst="roundRect">
            <a:avLst>
              <a:gd name="adj" fmla="val 6838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6750" y="3259138"/>
            <a:ext cx="430364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Channel ~590 vs ~110 IRT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16750" y="3553718"/>
            <a:ext cx="430364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Telephony per call incl. fixed trunks vs messaging fees per ticket.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35775" y="4279404"/>
            <a:ext cx="4540250" cy="1067891"/>
          </a:xfrm>
          <a:prstGeom prst="roundRect">
            <a:avLst>
              <a:gd name="adj" fmla="val 6838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16750" y="4460379"/>
            <a:ext cx="430364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5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 risk sits on voice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16750" y="4754959"/>
            <a:ext cx="4303649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Service-credit provision in Feb and Nov (4% abandonment) and peak-hour staffing.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5 · UnitEcon sheet · allocation: agent cost by channel FTE share, telephony to voice, messaging to tickets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D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COST IMPROVEMENT PROGRAM (EXHIBIT F) &amp; RISKS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75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Eight initiatives, +14.4 bn IRT EBITDA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473101"/>
            <a:ext cx="1088339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Ranked by net 12-month impact after investment; six are live within 90 days; FY margin 13.0% → ~20%.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86446"/>
          <a:ext cx="6337300" cy="2993231"/>
        </p:xfrm>
        <a:graphic>
          <a:graphicData uri="http://schemas.openxmlformats.org/drawingml/2006/table">
            <a:tbl>
              <a:tblPr/>
              <a:tblGrid>
                <a:gridCol w="380238"/>
                <a:gridCol w="3929126"/>
                <a:gridCol w="1077341"/>
                <a:gridCol w="950595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Net, bn IRT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≤ 90 days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Voice AHT 75→68 s (agent-assist, IVR)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4.83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No, 4 mo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Shrinkage 30%→27% (adherence, absence)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4.03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Part-time peak shifts: occupancy 78%→81%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2.57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Phased seat lease: 97 vs 141 seats in H1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1.89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Team-leader span 1:15 → 1:18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1.75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Telephony &amp; platform renegotiation −15%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Flex cover for peaks (no idle hires)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Automated QA: 1:40 → 1:80 analysts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0.24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5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No, 4 mo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5006677"/>
            <a:ext cx="65405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 16.95 bn less a 15% overlap haircut = </a:t>
            </a:r>
            <a:r>
              <a:rPr lang="en-US" sz="1200" b="1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14.4 bn</a:t>
            </a:r>
            <a:r>
              <a:rPr lang="en-US" sz="1200" dirty="0">
                <a:solidFill>
                  <a:srgbClr val="3E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2027 contract asks: wage indexation · ±10% volume collar with take-or-pay · voice per-second premium.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67600" y="1873746"/>
            <a:ext cx="3911600" cy="2912963"/>
          </a:xfrm>
          <a:prstGeom prst="roundRect">
            <a:avLst>
              <a:gd name="adj" fmla="val 3488"/>
            </a:avLst>
          </a:prstGeom>
          <a:solidFill>
            <a:srgbClr val="15233F"/>
          </a:solidFill>
          <a:ln/>
        </p:spPr>
      </p:sp>
      <p:sp>
        <p:nvSpPr>
          <p:cNvPr id="8" name="Text 5"/>
          <p:cNvSpPr/>
          <p:nvPr/>
        </p:nvSpPr>
        <p:spPr>
          <a:xfrm>
            <a:off x="7670800" y="2076946"/>
            <a:ext cx="361035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could break the plan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70800" y="2422327"/>
            <a:ext cx="361035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9A1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−73% EBITDA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70800" y="2732187"/>
            <a:ext cx="3610356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volume lands 10% below plan while staffing stays on plan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70800" y="3245148"/>
            <a:ext cx="361035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9A1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1.0 bn EBITDA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70800" y="3555008"/>
            <a:ext cx="3610356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wages rise +52% (high-inflation scenario) instead of +25%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70800" y="4067969"/>
            <a:ext cx="361035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9A1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−39% EBITDA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70800" y="4377829"/>
            <a:ext cx="3610356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call AHT drifts from 75 s to 82 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3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5 · CostProgram_ExF, ZBB_Register, Sensitivity sheets · investment fully expensed in the 12-month window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ix FY26 Plan – 5-Slide Summary">
  <a:themeElements>
    <a:clrScheme name="Helix FY26 Plan – 5-Slide Summary">
      <a:dk1>
        <a:srgbClr val="15233F"/>
      </a:dk1>
      <a:lt1>
        <a:srgbClr val="F6F4EF"/>
      </a:lt1>
      <a:dk2>
        <a:srgbClr val="4D576B"/>
      </a:dk2>
      <a:lt2>
        <a:srgbClr val="E0DFDD"/>
      </a:lt2>
      <a:accent1>
        <a:srgbClr val="2F4A7A"/>
      </a:accent1>
      <a:accent2>
        <a:srgbClr val="D9772B"/>
      </a:accent2>
      <a:accent3>
        <a:srgbClr val="E9A15F"/>
      </a:accent3>
      <a:accent4>
        <a:srgbClr val="2F6DB5"/>
      </a:accent4>
      <a:accent5>
        <a:srgbClr val="B45A12"/>
      </a:accent5>
      <a:accent6>
        <a:srgbClr val="9FB0C9"/>
      </a:accent6>
      <a:hlink>
        <a:srgbClr val="0563C1"/>
      </a:hlink>
      <a:folHlink>
        <a:srgbClr val="954F72"/>
      </a:folHlink>
    </a:clrScheme>
    <a:fontScheme name="Helix FY26 Plan – 5-Slide Summary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 FY26 Plan – 5-Slide Summary</dc:title>
  <dc:subject/>
  <dc:creator/>
  <cp:lastModifiedBy/>
  <cp:revision>1</cp:revision>
  <dcterms:created xsi:type="dcterms:W3CDTF">2026-10-05T09:00:28Z</dcterms:created>
  <dcterms:modified xsi:type="dcterms:W3CDTF">2026-10-05T09:00:28Z</dcterms:modified>
</cp:coreProperties>
</file>